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a Machado" userId="66479fbad8438ed9" providerId="LiveId" clId="{B3EDCBA7-7B0A-456D-AF50-63B303358C19}"/>
    <pc:docChg chg="modSld">
      <pc:chgData name="Marta Machado" userId="66479fbad8438ed9" providerId="LiveId" clId="{B3EDCBA7-7B0A-456D-AF50-63B303358C19}" dt="2025-05-29T13:16:28.485" v="90" actId="1076"/>
      <pc:docMkLst>
        <pc:docMk/>
      </pc:docMkLst>
      <pc:sldChg chg="modSp mod">
        <pc:chgData name="Marta Machado" userId="66479fbad8438ed9" providerId="LiveId" clId="{B3EDCBA7-7B0A-456D-AF50-63B303358C19}" dt="2025-05-29T13:16:28.485" v="90" actId="1076"/>
        <pc:sldMkLst>
          <pc:docMk/>
          <pc:sldMk cId="886023307" sldId="256"/>
        </pc:sldMkLst>
        <pc:spChg chg="mod">
          <ac:chgData name="Marta Machado" userId="66479fbad8438ed9" providerId="LiveId" clId="{B3EDCBA7-7B0A-456D-AF50-63B303358C19}" dt="2025-05-29T13:16:28.485" v="90" actId="1076"/>
          <ac:spMkLst>
            <pc:docMk/>
            <pc:sldMk cId="886023307" sldId="256"/>
            <ac:spMk id="10" creationId="{2F75CEFA-B18D-283E-C217-23EC877CC923}"/>
          </ac:spMkLst>
        </pc:spChg>
      </pc:sldChg>
      <pc:sldChg chg="modTransition modAnim">
        <pc:chgData name="Marta Machado" userId="66479fbad8438ed9" providerId="LiveId" clId="{B3EDCBA7-7B0A-456D-AF50-63B303358C19}" dt="2025-05-29T13:08:13.720" v="50"/>
        <pc:sldMkLst>
          <pc:docMk/>
          <pc:sldMk cId="3848282420" sldId="257"/>
        </pc:sldMkLst>
      </pc:sldChg>
      <pc:sldChg chg="modTransition modAnim">
        <pc:chgData name="Marta Machado" userId="66479fbad8438ed9" providerId="LiveId" clId="{B3EDCBA7-7B0A-456D-AF50-63B303358C19}" dt="2025-05-29T13:04:42.665" v="26"/>
        <pc:sldMkLst>
          <pc:docMk/>
          <pc:sldMk cId="3155767355" sldId="259"/>
        </pc:sldMkLst>
      </pc:sldChg>
      <pc:sldChg chg="addSp modSp modTransition modAnim">
        <pc:chgData name="Marta Machado" userId="66479fbad8438ed9" providerId="LiveId" clId="{B3EDCBA7-7B0A-456D-AF50-63B303358C19}" dt="2025-05-29T13:14:14.801" v="70" actId="14100"/>
        <pc:sldMkLst>
          <pc:docMk/>
          <pc:sldMk cId="2855663270" sldId="260"/>
        </pc:sldMkLst>
        <pc:picChg chg="add mod">
          <ac:chgData name="Marta Machado" userId="66479fbad8438ed9" providerId="LiveId" clId="{B3EDCBA7-7B0A-456D-AF50-63B303358C19}" dt="2025-05-29T13:14:14.801" v="70" actId="14100"/>
          <ac:picMkLst>
            <pc:docMk/>
            <pc:sldMk cId="2855663270" sldId="260"/>
            <ac:picMk id="4098" creationId="{FFDDFBEF-99E2-FF42-84FD-C997AB1B9B78}"/>
          </ac:picMkLst>
        </pc:picChg>
      </pc:sldChg>
      <pc:sldChg chg="addSp delSp modTransition modAnim">
        <pc:chgData name="Marta Machado" userId="66479fbad8438ed9" providerId="LiveId" clId="{B3EDCBA7-7B0A-456D-AF50-63B303358C19}" dt="2025-05-29T13:15:05.397" v="72" actId="478"/>
        <pc:sldMkLst>
          <pc:docMk/>
          <pc:sldMk cId="1725904840" sldId="261"/>
        </pc:sldMkLst>
        <pc:picChg chg="add del">
          <ac:chgData name="Marta Machado" userId="66479fbad8438ed9" providerId="LiveId" clId="{B3EDCBA7-7B0A-456D-AF50-63B303358C19}" dt="2025-05-29T13:15:05.397" v="72" actId="478"/>
          <ac:picMkLst>
            <pc:docMk/>
            <pc:sldMk cId="1725904840" sldId="261"/>
            <ac:picMk id="5122" creationId="{7C606565-2A00-D62B-6AF4-B189E31B95E9}"/>
          </ac:picMkLst>
        </pc:picChg>
      </pc:sldChg>
      <pc:sldChg chg="addSp modSp mod modTransition modAnim">
        <pc:chgData name="Marta Machado" userId="66479fbad8438ed9" providerId="LiveId" clId="{B3EDCBA7-7B0A-456D-AF50-63B303358C19}" dt="2025-05-29T13:15:44.960" v="73" actId="20577"/>
        <pc:sldMkLst>
          <pc:docMk/>
          <pc:sldMk cId="2064789707" sldId="262"/>
        </pc:sldMkLst>
        <pc:spChg chg="mod">
          <ac:chgData name="Marta Machado" userId="66479fbad8438ed9" providerId="LiveId" clId="{B3EDCBA7-7B0A-456D-AF50-63B303358C19}" dt="2025-05-29T13:15:44.960" v="73" actId="20577"/>
          <ac:spMkLst>
            <pc:docMk/>
            <pc:sldMk cId="2064789707" sldId="262"/>
            <ac:spMk id="7" creationId="{DA4F662F-016D-E604-452F-62F1B8F28EEB}"/>
          </ac:spMkLst>
        </pc:spChg>
        <pc:picChg chg="add mod">
          <ac:chgData name="Marta Machado" userId="66479fbad8438ed9" providerId="LiveId" clId="{B3EDCBA7-7B0A-456D-AF50-63B303358C19}" dt="2025-05-29T13:11:27.747" v="65" actId="1440"/>
          <ac:picMkLst>
            <pc:docMk/>
            <pc:sldMk cId="2064789707" sldId="262"/>
            <ac:picMk id="1026" creationId="{E1D68390-99F3-3584-D74F-6EA3607214D5}"/>
          </ac:picMkLst>
        </pc:picChg>
      </pc:sldChg>
      <pc:sldChg chg="modTransition">
        <pc:chgData name="Marta Machado" userId="66479fbad8438ed9" providerId="LiveId" clId="{B3EDCBA7-7B0A-456D-AF50-63B303358C19}" dt="2025-05-29T13:07:28.644" v="47"/>
        <pc:sldMkLst>
          <pc:docMk/>
          <pc:sldMk cId="1662801628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59BD62-D518-0209-2169-38CD48EF8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A30A1F-86FD-AB2C-1330-CD7AE23FF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224351F-90DA-2FB6-7068-A34E93ED0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00509-D75F-4EDC-B59F-BAE3F7CD6B7D}" type="datetimeFigureOut">
              <a:rPr lang="pt-PT" smtClean="0"/>
              <a:t>29/05/2025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549636B-C75F-3A20-2024-67063568D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624F18F-2D1F-3112-6E60-6E3B8ECD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D7DD-EC86-4F17-AE09-C4C56F2600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8380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CA9AF6-A0C8-45EB-9B76-6802C8E0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56E1BF1-C5EB-F302-D2E7-4C723D629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6FE090D-B2E2-7D0B-5447-D05C060A2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00509-D75F-4EDC-B59F-BAE3F7CD6B7D}" type="datetimeFigureOut">
              <a:rPr lang="pt-PT" smtClean="0"/>
              <a:t>29/05/2025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A0EC87C-F044-CB44-E5B6-F0E9137E6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F0D0168-EA63-5232-D27B-B2B4A0D5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D7DD-EC86-4F17-AE09-C4C56F2600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5120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22DCC-58CE-4754-61EA-955556210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C2A504B-A61F-8990-CAA3-4107A1514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F66EFFF-4B79-FC9B-A2D8-38FE25A70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00509-D75F-4EDC-B59F-BAE3F7CD6B7D}" type="datetimeFigureOut">
              <a:rPr lang="pt-PT" smtClean="0"/>
              <a:t>29/05/2025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19D42E2-4CDE-8C91-C4FA-9ACF9D1A2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0ACB7FE-EF09-4168-0C9B-FF7967BF5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D7DD-EC86-4F17-AE09-C4C56F2600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8739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C8DC7-F8A2-50F0-5950-7E175C15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9C4F4AE-23AD-06F1-3A8D-2A8DBBB90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78AD3B41-A1B6-D133-2E43-07CB40171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2155099-7CBC-3C3C-69A2-16F6B5937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00509-D75F-4EDC-B59F-BAE3F7CD6B7D}" type="datetimeFigureOut">
              <a:rPr lang="pt-PT" smtClean="0"/>
              <a:t>29/05/2025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BD185C4-D7AA-91A8-A933-BB0C7CD1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E5DABE7-B82B-9B35-1DC1-C4F7F74D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D7DD-EC86-4F17-AE09-C4C56F2600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60828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2A7944-B7F7-96B6-1650-8DBBEF8DB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8D84FE51-2E5A-4729-A024-08906F456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8032082-0117-AE1F-26E1-DB998184F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3F145F7B-8389-0145-B58A-83A6D541C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CA19789A-E5BD-EEAF-D767-E29BDB45DC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547A11A6-7F9C-484E-2C9F-D9CF60BD7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00509-D75F-4EDC-B59F-BAE3F7CD6B7D}" type="datetimeFigureOut">
              <a:rPr lang="pt-PT" smtClean="0"/>
              <a:t>29/05/2025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058B104C-4B97-0DA9-328F-18D523581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22E274AE-06BD-7FF7-726E-E070A257D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D7DD-EC86-4F17-AE09-C4C56F2600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83314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4275C-530E-634F-A03E-6F0D344F7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E41E632A-2934-D56B-D2BA-A04AE1B28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00509-D75F-4EDC-B59F-BAE3F7CD6B7D}" type="datetimeFigureOut">
              <a:rPr lang="pt-PT" smtClean="0"/>
              <a:t>29/05/2025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D1C0E433-034B-DB24-1616-63E5B8B47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E0BA01AD-BBE2-3D95-A108-E80F571D5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D7DD-EC86-4F17-AE09-C4C56F2600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60227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184C28CF-3F73-421D-BA72-3B1DD7E1A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00509-D75F-4EDC-B59F-BAE3F7CD6B7D}" type="datetimeFigureOut">
              <a:rPr lang="pt-PT" smtClean="0"/>
              <a:t>29/05/2025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2CE38908-A510-8A84-5598-7E6F59E87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7DC80A9-6EAC-14D9-4468-A9551B3C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D7DD-EC86-4F17-AE09-C4C56F2600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69438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AC020-87DE-4B28-AE68-981E88F51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14DC388-1252-6C34-5C3F-2EEB9FADF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9CF8FFE-A1BA-D82C-95E6-81EE5C4EE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4B670C4-9C19-BAE8-C038-F21986C22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00509-D75F-4EDC-B59F-BAE3F7CD6B7D}" type="datetimeFigureOut">
              <a:rPr lang="pt-PT" smtClean="0"/>
              <a:t>29/05/2025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6E60390-DE4E-E678-B2A2-C01622D41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6DD731D-CB16-6922-E2F0-849C3229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D7DD-EC86-4F17-AE09-C4C56F2600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82041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334D0-D383-1D52-9F68-F63103D72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D27E9661-8D96-08E4-BB75-6BA38D384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7C9D2D2-81FB-6C43-949C-AA5D8763E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CE0C5B6-975D-DC09-777B-C37B36FA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00509-D75F-4EDC-B59F-BAE3F7CD6B7D}" type="datetimeFigureOut">
              <a:rPr lang="pt-PT" smtClean="0"/>
              <a:t>29/05/2025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3A1ADC7-F389-50EF-4A05-2BA80C30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7F252CD-9ACB-722A-30CA-1A631AF2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D7DD-EC86-4F17-AE09-C4C56F2600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97149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9BEBF-A542-B51E-E065-FCC0E34E4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4A4C9912-DAED-3457-69EF-EFD3BA36F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B5B7784-413F-4455-8A7C-9D36BF44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00509-D75F-4EDC-B59F-BAE3F7CD6B7D}" type="datetimeFigureOut">
              <a:rPr lang="pt-PT" smtClean="0"/>
              <a:t>29/05/2025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9E894B7-27EB-18B1-C6E7-A8447F24B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F308A73-DBAE-5247-6716-048FA0F6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D7DD-EC86-4F17-AE09-C4C56F2600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5666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F16A57A-6BEB-6D51-AD85-FCB3FACAA4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E5D17345-A1FA-ED0D-A1DF-2AADAF02F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4E596B0-28A3-F190-8F16-19B985927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00509-D75F-4EDC-B59F-BAE3F7CD6B7D}" type="datetimeFigureOut">
              <a:rPr lang="pt-PT" smtClean="0"/>
              <a:t>29/05/2025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0E5D5F5-0897-3DE7-8190-0B285E177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D3D845E-34DB-6708-0D84-B576DBBA4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D7DD-EC86-4F17-AE09-C4C56F2600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88114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C6015D63-8972-EC89-B6D9-931D4AF9B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4E31AC8-26B9-AE6A-AAD7-10C97F40E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9A2FF71-9150-3AFB-4D7D-5912D10CF1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B00509-D75F-4EDC-B59F-BAE3F7CD6B7D}" type="datetimeFigureOut">
              <a:rPr lang="pt-PT" smtClean="0"/>
              <a:t>29/05/2025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29D6FA5-25D0-81AF-30D5-FF6AEB47E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E706BACA-8EF9-D381-BB5D-B05314780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BD7DD-EC86-4F17-AE09-C4C56F26004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86559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B640E15-02B7-4343-2F0D-6AD2F6157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636BEBE5-5787-48F9-729C-AAB5C0C90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83030" y="2501051"/>
            <a:ext cx="9448800" cy="2518224"/>
          </a:xfrm>
        </p:spPr>
        <p:txBody>
          <a:bodyPr>
            <a:normAutofit/>
          </a:bodyPr>
          <a:lstStyle/>
          <a:p>
            <a:b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</a:br>
            <a:r>
              <a:rPr lang="en-US" sz="4000" b="1" i="0" dirty="0" err="1">
                <a:solidFill>
                  <a:srgbClr val="F0F6FC"/>
                </a:solidFill>
                <a:effectLst/>
              </a:rPr>
              <a:t>AutoCalendar</a:t>
            </a:r>
            <a:r>
              <a:rPr lang="en-US" sz="4000" b="1" i="0" dirty="0">
                <a:solidFill>
                  <a:srgbClr val="F0F6FC"/>
                </a:solidFill>
                <a:effectLst/>
              </a:rPr>
              <a:t> Deadline Manager Agent</a:t>
            </a:r>
            <a:b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</a:br>
            <a:endParaRPr lang="pt-PT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F75CEFA-B18D-283E-C217-23EC877CC923}"/>
              </a:ext>
            </a:extLst>
          </p:cNvPr>
          <p:cNvSpPr txBox="1"/>
          <p:nvPr/>
        </p:nvSpPr>
        <p:spPr>
          <a:xfrm>
            <a:off x="437887" y="4621354"/>
            <a:ext cx="816628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3600" b="1" dirty="0">
                <a:solidFill>
                  <a:schemeClr val="bg1"/>
                </a:solidFill>
                <a:latin typeface="+mj-lt"/>
              </a:rPr>
              <a:t>Equipa 12 : EYNOT?</a:t>
            </a:r>
          </a:p>
          <a:p>
            <a:endParaRPr lang="pt-PT" sz="1000" b="1" dirty="0">
              <a:solidFill>
                <a:schemeClr val="bg1"/>
              </a:solidFill>
              <a:latin typeface="+mj-lt"/>
            </a:endParaRPr>
          </a:p>
          <a:p>
            <a:r>
              <a:rPr lang="pt-PT" dirty="0">
                <a:solidFill>
                  <a:schemeClr val="bg1"/>
                </a:solidFill>
              </a:rPr>
              <a:t>Catarina Pereira / David Preto /Leandro Bernardo / Marta Machado/ Xavier Cunha</a:t>
            </a:r>
            <a:endParaRPr lang="pt-PT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023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2125909-1151-8F39-49CB-A28CE71A0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B564BAB-9798-7EBA-59F8-2BE8621431A8}"/>
              </a:ext>
            </a:extLst>
          </p:cNvPr>
          <p:cNvSpPr txBox="1"/>
          <p:nvPr/>
        </p:nvSpPr>
        <p:spPr>
          <a:xfrm>
            <a:off x="685799" y="2040089"/>
            <a:ext cx="788532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2400" dirty="0"/>
              <a:t>Os profissionais de impostos recebem obrigações com </a:t>
            </a:r>
            <a:r>
              <a:rPr lang="pt-PT" sz="2400" b="1" dirty="0"/>
              <a:t>prazos legais</a:t>
            </a:r>
            <a:r>
              <a:rPr lang="pt-PT" sz="2400" dirty="0"/>
              <a:t> através de vários canais:</a:t>
            </a:r>
          </a:p>
          <a:p>
            <a:pPr algn="just"/>
            <a:endParaRPr lang="pt-PT" sz="2000" dirty="0"/>
          </a:p>
          <a:p>
            <a:pPr algn="just"/>
            <a:endParaRPr lang="pt-PT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2000" dirty="0"/>
              <a:t>Scans de cartas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2000" dirty="0"/>
              <a:t>Mensagens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2000" dirty="0"/>
              <a:t>Emails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2000" dirty="0"/>
              <a:t>Notas escritas à mão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2000" dirty="0"/>
              <a:t>…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C41D11E5-104E-E994-C849-65F4ACFDB47B}"/>
              </a:ext>
            </a:extLst>
          </p:cNvPr>
          <p:cNvSpPr/>
          <p:nvPr/>
        </p:nvSpPr>
        <p:spPr>
          <a:xfrm>
            <a:off x="4770304" y="3606189"/>
            <a:ext cx="1112703" cy="561860"/>
          </a:xfrm>
          <a:prstGeom prst="rightArrow">
            <a:avLst/>
          </a:prstGeom>
          <a:solidFill>
            <a:schemeClr val="tx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25565B0-0A47-FB34-C13F-B8DE719C0A38}"/>
              </a:ext>
            </a:extLst>
          </p:cNvPr>
          <p:cNvSpPr txBox="1"/>
          <p:nvPr/>
        </p:nvSpPr>
        <p:spPr>
          <a:xfrm>
            <a:off x="6958529" y="3198553"/>
            <a:ext cx="40803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Requer interpretação legal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Dados implícitos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Risco de incumprimento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Penalizações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 dirty="0"/>
              <a:t>Sobrecarga manual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200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49A2235C-E006-B854-91A7-1F292F6BA98B}"/>
              </a:ext>
            </a:extLst>
          </p:cNvPr>
          <p:cNvSpPr txBox="1">
            <a:spLocks/>
          </p:cNvSpPr>
          <p:nvPr/>
        </p:nvSpPr>
        <p:spPr>
          <a:xfrm>
            <a:off x="1790700" y="348276"/>
            <a:ext cx="8610600" cy="12930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1" dirty="0"/>
              <a:t>1. </a:t>
            </a:r>
            <a:r>
              <a:rPr lang="pt-PT" dirty="0"/>
              <a:t>O Problema:</a:t>
            </a:r>
            <a:br>
              <a:rPr lang="pt-PT" dirty="0"/>
            </a:br>
            <a:r>
              <a:rPr lang="pt-PT" sz="4400" b="1" dirty="0"/>
              <a:t>Gestão de Prazos Fiscais</a:t>
            </a:r>
            <a:endParaRPr lang="pt-PT" b="1" dirty="0"/>
          </a:p>
        </p:txBody>
      </p:sp>
    </p:spTree>
    <p:extLst>
      <p:ext uri="{BB962C8B-B14F-4D97-AF65-F5344CB8AC3E}">
        <p14:creationId xmlns:p14="http://schemas.microsoft.com/office/powerpoint/2010/main" val="3848282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E7281-0D76-6480-727B-CA48276FB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C3D30B9-C651-4852-CBFA-1C51BDC6F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F294B84D-C753-DC61-DF36-575E2E3FA395}"/>
              </a:ext>
            </a:extLst>
          </p:cNvPr>
          <p:cNvSpPr txBox="1">
            <a:spLocks/>
          </p:cNvSpPr>
          <p:nvPr/>
        </p:nvSpPr>
        <p:spPr>
          <a:xfrm>
            <a:off x="1790700" y="348276"/>
            <a:ext cx="8610600" cy="12930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1" dirty="0"/>
              <a:t>2. </a:t>
            </a:r>
            <a:r>
              <a:rPr lang="pt-PT" dirty="0"/>
              <a:t>A Solução:</a:t>
            </a:r>
            <a:br>
              <a:rPr lang="pt-PT" dirty="0"/>
            </a:br>
            <a:r>
              <a:rPr lang="pt-PT" sz="4400" b="1" dirty="0"/>
              <a:t>Um Agente IA Multimodal</a:t>
            </a:r>
            <a:endParaRPr lang="pt-PT" b="1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4888D6C-A234-E621-772A-20C89E8D84C6}"/>
              </a:ext>
            </a:extLst>
          </p:cNvPr>
          <p:cNvSpPr txBox="1"/>
          <p:nvPr/>
        </p:nvSpPr>
        <p:spPr>
          <a:xfrm>
            <a:off x="871122" y="2302519"/>
            <a:ext cx="206015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2000" dirty="0"/>
              <a:t>Recebe os </a:t>
            </a:r>
            <a:r>
              <a:rPr lang="pt-PT" sz="2000" b="1" dirty="0"/>
              <a:t>inputs</a:t>
            </a:r>
            <a:r>
              <a:rPr lang="pt-PT" sz="2000" dirty="0"/>
              <a:t> multimodais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58D083-BCF3-3239-3206-1386FCACF301}"/>
              </a:ext>
            </a:extLst>
          </p:cNvPr>
          <p:cNvSpPr txBox="1"/>
          <p:nvPr/>
        </p:nvSpPr>
        <p:spPr>
          <a:xfrm>
            <a:off x="3428871" y="2302521"/>
            <a:ext cx="2657818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2000" dirty="0"/>
              <a:t>Deteta menções temporais – </a:t>
            </a:r>
            <a:r>
              <a:rPr lang="pt-PT" sz="2000" b="1" dirty="0"/>
              <a:t>evento base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60F6EC8-E2CD-1985-66C8-6CEC4920D0DF}"/>
              </a:ext>
            </a:extLst>
          </p:cNvPr>
          <p:cNvSpPr txBox="1"/>
          <p:nvPr/>
        </p:nvSpPr>
        <p:spPr>
          <a:xfrm>
            <a:off x="6584284" y="2302522"/>
            <a:ext cx="217032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2000" dirty="0"/>
              <a:t>Aplica a lógica legal portuguesa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1C584BA-EF9D-2BEA-50B9-F06E6FE9CEBF}"/>
              </a:ext>
            </a:extLst>
          </p:cNvPr>
          <p:cNvSpPr txBox="1"/>
          <p:nvPr/>
        </p:nvSpPr>
        <p:spPr>
          <a:xfrm>
            <a:off x="9252201" y="2302519"/>
            <a:ext cx="217032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2000" b="1" dirty="0"/>
              <a:t>Output</a:t>
            </a:r>
            <a:r>
              <a:rPr lang="pt-PT" sz="2000" dirty="0"/>
              <a:t> do prazo, na forma de calendário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78D5C73-317C-3FD2-C0BB-2CECA427BBE1}"/>
              </a:ext>
            </a:extLst>
          </p:cNvPr>
          <p:cNvSpPr txBox="1"/>
          <p:nvPr/>
        </p:nvSpPr>
        <p:spPr>
          <a:xfrm>
            <a:off x="2086315" y="4968606"/>
            <a:ext cx="2500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/>
              <a:t>Eficiência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3C0DC08-EE46-90E6-88A3-9323CE746685}"/>
              </a:ext>
            </a:extLst>
          </p:cNvPr>
          <p:cNvSpPr txBox="1"/>
          <p:nvPr/>
        </p:nvSpPr>
        <p:spPr>
          <a:xfrm>
            <a:off x="4095517" y="4968606"/>
            <a:ext cx="2500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/>
              <a:t>Redução do Risco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525C132-1FA4-8138-7ECC-98C0D3506F1C}"/>
              </a:ext>
            </a:extLst>
          </p:cNvPr>
          <p:cNvSpPr txBox="1"/>
          <p:nvPr/>
        </p:nvSpPr>
        <p:spPr>
          <a:xfrm>
            <a:off x="7148796" y="4968606"/>
            <a:ext cx="3309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dirty="0" err="1"/>
              <a:t>Regulatory</a:t>
            </a:r>
            <a:r>
              <a:rPr lang="pt-PT" sz="2000" dirty="0"/>
              <a:t> </a:t>
            </a:r>
            <a:r>
              <a:rPr lang="pt-PT" sz="2000" dirty="0" err="1"/>
              <a:t>compliance</a:t>
            </a:r>
            <a:endParaRPr lang="pt-PT" sz="20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08A0580-4C11-C53A-0D4C-3F033860D750}"/>
              </a:ext>
            </a:extLst>
          </p:cNvPr>
          <p:cNvSpPr txBox="1"/>
          <p:nvPr/>
        </p:nvSpPr>
        <p:spPr>
          <a:xfrm>
            <a:off x="1806764" y="4792336"/>
            <a:ext cx="8610600" cy="70508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73F1FF3-4210-6721-D0BC-3AC708803C1E}"/>
              </a:ext>
            </a:extLst>
          </p:cNvPr>
          <p:cNvSpPr/>
          <p:nvPr/>
        </p:nvSpPr>
        <p:spPr>
          <a:xfrm>
            <a:off x="3639241" y="5111820"/>
            <a:ext cx="172595" cy="1542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032B89D-716F-6B63-E04D-E8AD7F4194AF}"/>
              </a:ext>
            </a:extLst>
          </p:cNvPr>
          <p:cNvSpPr/>
          <p:nvPr/>
        </p:nvSpPr>
        <p:spPr>
          <a:xfrm>
            <a:off x="6744166" y="5121000"/>
            <a:ext cx="172595" cy="1542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Seta: Para a Direita 16">
            <a:extLst>
              <a:ext uri="{FF2B5EF4-FFF2-40B4-BE49-F238E27FC236}">
                <a16:creationId xmlns:a16="http://schemas.microsoft.com/office/drawing/2014/main" id="{4ACF1DE7-BA95-6957-247B-C74B7BA98050}"/>
              </a:ext>
            </a:extLst>
          </p:cNvPr>
          <p:cNvSpPr/>
          <p:nvPr/>
        </p:nvSpPr>
        <p:spPr>
          <a:xfrm rot="5400000">
            <a:off x="5911992" y="3677404"/>
            <a:ext cx="368013" cy="826267"/>
          </a:xfrm>
          <a:prstGeom prst="rightArrow">
            <a:avLst/>
          </a:prstGeom>
          <a:solidFill>
            <a:schemeClr val="tx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557673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D752E-86E3-F699-CE99-70404D7A2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F54A724-1375-1911-1815-D2B2401C7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1972C34B-6D24-DDBA-D110-7BAC2FEED69C}"/>
              </a:ext>
            </a:extLst>
          </p:cNvPr>
          <p:cNvSpPr txBox="1">
            <a:spLocks/>
          </p:cNvSpPr>
          <p:nvPr/>
        </p:nvSpPr>
        <p:spPr>
          <a:xfrm>
            <a:off x="1790700" y="348276"/>
            <a:ext cx="8610600" cy="12930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1" dirty="0"/>
              <a:t>3. </a:t>
            </a:r>
            <a:r>
              <a:rPr lang="pt-PT" dirty="0"/>
              <a:t>As Dificuldades:</a:t>
            </a:r>
            <a:br>
              <a:rPr lang="pt-PT" dirty="0"/>
            </a:br>
            <a:r>
              <a:rPr lang="pt-PT" b="1" dirty="0"/>
              <a:t>Desafios Técnicos e Jurídicos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52DCB4C-C760-E3F7-7609-72B558170CE7}"/>
              </a:ext>
            </a:extLst>
          </p:cNvPr>
          <p:cNvSpPr txBox="1"/>
          <p:nvPr/>
        </p:nvSpPr>
        <p:spPr>
          <a:xfrm>
            <a:off x="1189822" y="2060154"/>
            <a:ext cx="6312665" cy="3194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7C698F-3170-1326-9D01-C10746A8F09E}"/>
              </a:ext>
            </a:extLst>
          </p:cNvPr>
          <p:cNvSpPr txBox="1"/>
          <p:nvPr/>
        </p:nvSpPr>
        <p:spPr>
          <a:xfrm>
            <a:off x="1024569" y="2331169"/>
            <a:ext cx="759062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PT" sz="2400" b="1" dirty="0"/>
              <a:t>Heterogeneidade</a:t>
            </a:r>
            <a:r>
              <a:rPr lang="pt-PT" sz="2400" dirty="0"/>
              <a:t> dos formatos, nomeadamente ao nível da extração de dados de imagens;</a:t>
            </a:r>
          </a:p>
          <a:p>
            <a:pPr marL="342900" indent="-342900">
              <a:buFont typeface="+mj-lt"/>
              <a:buAutoNum type="arabicPeriod"/>
            </a:pPr>
            <a:r>
              <a:rPr lang="pt-PT" sz="2400" b="1" dirty="0"/>
              <a:t>Reconhecimento dos eventos </a:t>
            </a:r>
            <a:r>
              <a:rPr lang="pt-PT" sz="2400" dirty="0"/>
              <a:t>relevantes, dados pouco explícitos e datas conflituosas;</a:t>
            </a:r>
          </a:p>
          <a:p>
            <a:pPr marL="342900" indent="-342900">
              <a:buFont typeface="+mj-lt"/>
              <a:buAutoNum type="arabicPeriod"/>
            </a:pPr>
            <a:r>
              <a:rPr lang="pt-PT" sz="2400" dirty="0"/>
              <a:t>Aplicação da </a:t>
            </a:r>
            <a:r>
              <a:rPr lang="pt-PT" sz="2400" b="1" dirty="0"/>
              <a:t>contagem legal dos prazos</a:t>
            </a:r>
            <a:r>
              <a:rPr lang="pt-PT" sz="2400" dirty="0"/>
              <a:t>, devido à elevada quantidade de informação e regras fiscais.</a:t>
            </a:r>
          </a:p>
          <a:p>
            <a:pPr marL="342900" indent="-342900">
              <a:buFont typeface="+mj-lt"/>
              <a:buAutoNum type="arabicPeriod"/>
            </a:pPr>
            <a:endParaRPr lang="pt-PT" sz="2000" dirty="0"/>
          </a:p>
          <a:p>
            <a:pPr marL="342900" indent="-342900">
              <a:buFont typeface="+mj-lt"/>
              <a:buAutoNum type="arabicPeriod"/>
            </a:pPr>
            <a:endParaRPr lang="pt-PT" sz="2000" dirty="0"/>
          </a:p>
        </p:txBody>
      </p:sp>
      <p:pic>
        <p:nvPicPr>
          <p:cNvPr id="4098" name="Picture 2" descr="Robot 10: Robot with Questions | TIM">
            <a:extLst>
              <a:ext uri="{FF2B5EF4-FFF2-40B4-BE49-F238E27FC236}">
                <a16:creationId xmlns:a16="http://schemas.microsoft.com/office/drawing/2014/main" id="{FFDDFBEF-99E2-FF42-84FD-C997AB1B9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949" y="2330281"/>
            <a:ext cx="1754484" cy="2618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6632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56663-44BB-E432-D32D-57481D251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F5E4875-3AF6-422E-6A08-2D04009A5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751B922A-300C-8069-ADE8-85EEB7A5E7D1}"/>
              </a:ext>
            </a:extLst>
          </p:cNvPr>
          <p:cNvSpPr txBox="1">
            <a:spLocks/>
          </p:cNvSpPr>
          <p:nvPr/>
        </p:nvSpPr>
        <p:spPr>
          <a:xfrm>
            <a:off x="1790700" y="348276"/>
            <a:ext cx="8610600" cy="12930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1" dirty="0"/>
              <a:t>4. </a:t>
            </a:r>
            <a:r>
              <a:rPr lang="pt-PT" dirty="0"/>
              <a:t>Como</a:t>
            </a:r>
            <a:r>
              <a:rPr lang="pt-PT" b="1" dirty="0"/>
              <a:t> </a:t>
            </a:r>
            <a:r>
              <a:rPr lang="pt-PT" dirty="0"/>
              <a:t>Resolvemos:</a:t>
            </a:r>
            <a:br>
              <a:rPr lang="pt-PT" dirty="0"/>
            </a:br>
            <a:r>
              <a:rPr lang="pt-PT" b="1" dirty="0"/>
              <a:t>Arquitetura e Abordagem Técnica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34A2DE-6D44-44A4-C953-742A12B5DEFF}"/>
              </a:ext>
            </a:extLst>
          </p:cNvPr>
          <p:cNvSpPr txBox="1"/>
          <p:nvPr/>
        </p:nvSpPr>
        <p:spPr>
          <a:xfrm>
            <a:off x="1189822" y="2060154"/>
            <a:ext cx="6312665" cy="3194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A19B379-EB28-449E-674C-9AB636ACFD51}"/>
              </a:ext>
            </a:extLst>
          </p:cNvPr>
          <p:cNvSpPr txBox="1"/>
          <p:nvPr/>
        </p:nvSpPr>
        <p:spPr>
          <a:xfrm>
            <a:off x="1024569" y="2518458"/>
            <a:ext cx="75906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PT" sz="2400" b="1" dirty="0"/>
              <a:t>Utilização de tabelas </a:t>
            </a:r>
            <a:r>
              <a:rPr lang="pt-PT" sz="2400" dirty="0"/>
              <a:t>que armazenam o texto e o tipo de ficheiro;</a:t>
            </a:r>
          </a:p>
          <a:p>
            <a:pPr marL="342900" indent="-342900">
              <a:buFont typeface="+mj-lt"/>
              <a:buAutoNum type="arabicPeriod"/>
            </a:pPr>
            <a:r>
              <a:rPr lang="pt-PT" sz="2400" b="1" dirty="0"/>
              <a:t>e 3. Fornecimento </a:t>
            </a:r>
            <a:r>
              <a:rPr lang="pt-PT" sz="2400" dirty="0"/>
              <a:t>ao modelo de um </a:t>
            </a:r>
            <a:r>
              <a:rPr lang="pt-PT" sz="2400" b="1" dirty="0"/>
              <a:t>conjunto estruturado de regras jurídicas </a:t>
            </a:r>
            <a:r>
              <a:rPr lang="pt-PT" sz="2400" dirty="0"/>
              <a:t>de forma a determinar com precisão o prazo</a:t>
            </a:r>
            <a:r>
              <a:rPr lang="pt-PT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59048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7B6E0-340B-633C-C07A-CD207C165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9B1FACC-A3B3-0AF7-1D5C-25248F7BF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3E776029-D39F-FE32-DB85-42A276676CBE}"/>
              </a:ext>
            </a:extLst>
          </p:cNvPr>
          <p:cNvSpPr txBox="1">
            <a:spLocks/>
          </p:cNvSpPr>
          <p:nvPr/>
        </p:nvSpPr>
        <p:spPr>
          <a:xfrm>
            <a:off x="1790700" y="348276"/>
            <a:ext cx="8610600" cy="12930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1" dirty="0"/>
              <a:t>5. </a:t>
            </a:r>
            <a:r>
              <a:rPr lang="pt-PT" dirty="0"/>
              <a:t>Inputs de IA Utilizados</a:t>
            </a:r>
            <a:endParaRPr lang="pt-PT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FA6DAA3-935C-A238-8C97-661691D0461E}"/>
              </a:ext>
            </a:extLst>
          </p:cNvPr>
          <p:cNvSpPr txBox="1"/>
          <p:nvPr/>
        </p:nvSpPr>
        <p:spPr>
          <a:xfrm>
            <a:off x="1178806" y="1641304"/>
            <a:ext cx="6312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39535FF-5642-9037-C3CF-95D51ED81988}"/>
              </a:ext>
            </a:extLst>
          </p:cNvPr>
          <p:cNvSpPr txBox="1"/>
          <p:nvPr/>
        </p:nvSpPr>
        <p:spPr>
          <a:xfrm>
            <a:off x="1024569" y="2518458"/>
            <a:ext cx="7590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PT" sz="2400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A4F662F-016D-E604-452F-62F1B8F28EEB}"/>
              </a:ext>
            </a:extLst>
          </p:cNvPr>
          <p:cNvSpPr txBox="1"/>
          <p:nvPr/>
        </p:nvSpPr>
        <p:spPr>
          <a:xfrm>
            <a:off x="1024570" y="2169709"/>
            <a:ext cx="646690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b="1" dirty="0"/>
              <a:t>LLM </a:t>
            </a:r>
            <a:r>
              <a:rPr lang="pt-PT" sz="2400" dirty="0"/>
              <a:t>para interpretar texto e estimar os prazos;</a:t>
            </a:r>
          </a:p>
          <a:p>
            <a:endParaRPr lang="pt-PT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b="1" dirty="0" err="1"/>
              <a:t>Chatbots</a:t>
            </a:r>
            <a:r>
              <a:rPr lang="pt-PT" sz="2400" b="1" dirty="0"/>
              <a:t> </a:t>
            </a:r>
            <a:r>
              <a:rPr lang="pt-PT" sz="2400" dirty="0"/>
              <a:t>para acelerar o processo;</a:t>
            </a:r>
          </a:p>
          <a:p>
            <a:endParaRPr lang="pt-PT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b="1" dirty="0" err="1"/>
              <a:t>Tesseract</a:t>
            </a:r>
            <a:r>
              <a:rPr lang="pt-PT" sz="2400" b="1" dirty="0"/>
              <a:t> (OCR) </a:t>
            </a:r>
            <a:r>
              <a:rPr lang="pt-PT" sz="2400" dirty="0"/>
              <a:t>para extrair dados de documentos digitalizados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400" b="1" dirty="0"/>
          </a:p>
        </p:txBody>
      </p:sp>
      <p:pic>
        <p:nvPicPr>
          <p:cNvPr id="1026" name="Picture 2" descr="LLMs LLMs Everywhere - Buzz and Woody (Toy Story) Meme Meme Generator">
            <a:extLst>
              <a:ext uri="{FF2B5EF4-FFF2-40B4-BE49-F238E27FC236}">
                <a16:creationId xmlns:a16="http://schemas.microsoft.com/office/drawing/2014/main" id="{E1D68390-99F3-3584-D74F-6EA3607214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02" r="13824"/>
          <a:stretch/>
        </p:blipFill>
        <p:spPr bwMode="auto">
          <a:xfrm>
            <a:off x="8032674" y="2223818"/>
            <a:ext cx="3214173" cy="241036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7897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31DA3-0B2E-E4A5-E5A8-190FDF82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2D92B5A8-7C8A-89DC-D20E-E11E37D9E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1AADF84-9545-9F08-AE7A-D089EBEF6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640639" y="3690873"/>
            <a:ext cx="9448800" cy="2518224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</a:br>
            <a:r>
              <a:rPr lang="en-US" b="1" i="0" dirty="0" err="1">
                <a:solidFill>
                  <a:srgbClr val="F0F6FC"/>
                </a:solidFill>
                <a:effectLst/>
                <a:latin typeface="-apple-system"/>
              </a:rPr>
              <a:t>Obrigado</a:t>
            </a:r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!</a:t>
            </a:r>
            <a:b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</a:b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628016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242</Words>
  <Application>Microsoft Office PowerPoint</Application>
  <PresentationFormat>Ecrã Panorâmico</PresentationFormat>
  <Paragraphs>40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2" baseType="lpstr">
      <vt:lpstr>-apple-system</vt:lpstr>
      <vt:lpstr>Arial</vt:lpstr>
      <vt:lpstr>Calibri</vt:lpstr>
      <vt:lpstr>Calibri Light</vt:lpstr>
      <vt:lpstr>Tema do Office</vt:lpstr>
      <vt:lpstr> AutoCalendar Deadline Manager Agent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Obrigado!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Machado</dc:creator>
  <cp:lastModifiedBy>Marta Machado</cp:lastModifiedBy>
  <cp:revision>1</cp:revision>
  <dcterms:created xsi:type="dcterms:W3CDTF">2025-05-29T11:57:42Z</dcterms:created>
  <dcterms:modified xsi:type="dcterms:W3CDTF">2025-05-29T13:16:32Z</dcterms:modified>
</cp:coreProperties>
</file>